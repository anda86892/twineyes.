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Sarabun"/>
      <p:regular r:id="rId14"/>
      <p:bold r:id="rId15"/>
      <p:italic r:id="rId16"/>
      <p:boldItalic r:id="rId17"/>
    </p:embeddedFont>
    <p:embeddedFont>
      <p:font typeface="Prompt Medium"/>
      <p:regular r:id="rId18"/>
      <p:bold r:id="rId19"/>
      <p:italic r:id="rId20"/>
      <p:boldItalic r:id="rId21"/>
    </p:embeddedFont>
    <p:embeddedFont>
      <p:font typeface="Prompt SemiBold"/>
      <p:regular r:id="rId22"/>
      <p:bold r:id="rId23"/>
      <p:italic r:id="rId24"/>
      <p:boldItalic r:id="rId25"/>
    </p:embeddedFont>
    <p:embeddedFont>
      <p:font typeface="Sarabun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mptMedium-italic.fntdata"/><Relationship Id="rId22" Type="http://schemas.openxmlformats.org/officeDocument/2006/relationships/font" Target="fonts/PromptSemiBold-regular.fntdata"/><Relationship Id="rId21" Type="http://schemas.openxmlformats.org/officeDocument/2006/relationships/font" Target="fonts/PromptMedium-boldItalic.fntdata"/><Relationship Id="rId24" Type="http://schemas.openxmlformats.org/officeDocument/2006/relationships/font" Target="fonts/PromptSemiBold-italic.fntdata"/><Relationship Id="rId23" Type="http://schemas.openxmlformats.org/officeDocument/2006/relationships/font" Target="fonts/Prompt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arabunMedium-regular.fntdata"/><Relationship Id="rId25" Type="http://schemas.openxmlformats.org/officeDocument/2006/relationships/font" Target="fonts/PromptSemiBold-boldItalic.fntdata"/><Relationship Id="rId28" Type="http://schemas.openxmlformats.org/officeDocument/2006/relationships/font" Target="fonts/SarabunMedium-italic.fntdata"/><Relationship Id="rId27" Type="http://schemas.openxmlformats.org/officeDocument/2006/relationships/font" Target="fonts/Sarabun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arabun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Sarabun-bold.fntdata"/><Relationship Id="rId14" Type="http://schemas.openxmlformats.org/officeDocument/2006/relationships/font" Target="fonts/Sarabun-regular.fntdata"/><Relationship Id="rId17" Type="http://schemas.openxmlformats.org/officeDocument/2006/relationships/font" Target="fonts/Sarabun-boldItalic.fntdata"/><Relationship Id="rId16" Type="http://schemas.openxmlformats.org/officeDocument/2006/relationships/font" Target="fonts/Sarabun-italic.fntdata"/><Relationship Id="rId19" Type="http://schemas.openxmlformats.org/officeDocument/2006/relationships/font" Target="fonts/PromptMedium-bold.fntdata"/><Relationship Id="rId18" Type="http://schemas.openxmlformats.org/officeDocument/2006/relationships/font" Target="fonts/Prompt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11" Type="http://schemas.openxmlformats.org/officeDocument/2006/relationships/image" Target="../media/image12.png"/><Relationship Id="rId10" Type="http://schemas.openxmlformats.org/officeDocument/2006/relationships/image" Target="../media/image13.png"/><Relationship Id="rId12" Type="http://schemas.openxmlformats.org/officeDocument/2006/relationships/image" Target="../media/image2.png"/><Relationship Id="rId9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11" Type="http://schemas.openxmlformats.org/officeDocument/2006/relationships/image" Target="../media/image26.png"/><Relationship Id="rId10" Type="http://schemas.openxmlformats.org/officeDocument/2006/relationships/image" Target="../media/image28.png"/><Relationship Id="rId12" Type="http://schemas.openxmlformats.org/officeDocument/2006/relationships/image" Target="../media/image24.png"/><Relationship Id="rId9" Type="http://schemas.openxmlformats.org/officeDocument/2006/relationships/image" Target="../media/image8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095375" y="1893540"/>
            <a:ext cx="1000125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8FAFC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TwinEyes: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6000" u="none" cap="none" strike="noStrike">
                <a:solidFill>
                  <a:srgbClr val="00E5FF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Hybrid Vision-Language</a:t>
            </a:r>
            <a:r>
              <a:rPr b="0" i="0" lang="en-US" sz="6000" u="none" cap="none" strike="noStrike">
                <a:solidFill>
                  <a:srgbClr val="F8FAFC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33500" y="4598640"/>
            <a:ext cx="9525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Sarabun"/>
                <a:ea typeface="Sarabun"/>
                <a:cs typeface="Sarabun"/>
                <a:sym typeface="Sarabun"/>
              </a:rPr>
              <a:t>สถาปัตยกรรมระบบรักษาความปลอดภัยอัจฉริยะ (YOLO + Gemma 3 + RAG)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383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62025" y="2097583"/>
            <a:ext cx="4848225" cy="9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UI Blocking (Main Thread)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 โมเดล LLM ใช้เวลาคิดประมวลผล 2-5 วินาที ทำให้หน้าเว็บ Streamlit หยุดค้าง ไม่สามารถอัปเดตภาพต่อไปได้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62025" y="3328094"/>
            <a:ext cx="4848225" cy="9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Log Spamming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 โมเดล Object Detection (YOLO) ทำงานเร็วเกินไป ส่งผลให้เกิดข้อมูลขยะล้นระบบจากการตรวจจับเฟรมซ้ำซ้อน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4558605"/>
            <a:ext cx="4848225" cy="992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Sarabun Medium"/>
                <a:ea typeface="Sarabun Medium"/>
                <a:cs typeface="Sarabun Medium"/>
                <a:sym typeface="Sarabun Medium"/>
              </a:rPr>
              <a:t>Context Memory Limit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 โมเดล AI มีขีดจำกัดด้านความจำ ไม่สามารถอ่านและประมวลผลคู่มือความปลอดภัยทั้งเล่มในรวดเดียวได้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478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581025"/>
            <a:ext cx="1158144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ข้อจำกัดของ Web Framework &amp; </a:t>
            </a:r>
            <a:r>
              <a:rPr b="0" i="0" lang="en-US" sz="3375" u="none" cap="none" strike="noStrike">
                <a:solidFill>
                  <a:srgbClr val="00E5FF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AI Latency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11663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47144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77655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47875"/>
            <a:ext cx="34861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47875"/>
            <a:ext cx="34861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047875"/>
            <a:ext cx="34861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5475" y="24384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193958" y="3533775"/>
            <a:ext cx="226028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Prompt Medium"/>
                <a:ea typeface="Prompt Medium"/>
                <a:cs typeface="Prompt Medium"/>
                <a:sym typeface="Prompt Medium"/>
              </a:rPr>
              <a:t>Backend Worker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76300" y="40862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แยกสคริปต์ YOLO ไปรันใน Thread อิสระ ประมวลผลภาพด้วยความเร็ว 10-20 FPS โดยไม่ต้องรอการตอบสนองจากหน้าเว็บ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4384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290899" y="3533775"/>
            <a:ext cx="161020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Prompt Medium"/>
                <a:ea typeface="Prompt Medium"/>
                <a:cs typeface="Prompt Medium"/>
                <a:sym typeface="Prompt Medium"/>
              </a:rPr>
              <a:t>Frontend UI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48200" y="40862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ลดภาระการสร้าง DOM โดยบังคับให้ Streamlit ดึงภาพมาโชว์แค่ 1 ภาพต่อวินาที (1 FPS) เพื่อรักษาความเสถียรของหน้าจอ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39275" y="24384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777763" y="3533775"/>
            <a:ext cx="218027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Prompt Medium"/>
                <a:ea typeface="Prompt Medium"/>
                <a:cs typeface="Prompt Medium"/>
                <a:sym typeface="Prompt Medium"/>
              </a:rPr>
              <a:t>Cooldown Logic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20100" y="40862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กำหนดการหน่วงเวลา (Debouncing) การบันทึก Log และรูปภาพ 10 วินาที เพื่อกรองข้อมูลที่ซ้ำซ้อนออกไปจากระบบ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85975" y="26289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29300" y="262890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58350" y="262890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81025" y="581025"/>
            <a:ext cx="1158144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สถาปัตยกรรมแยกส่วน </a:t>
            </a:r>
            <a:r>
              <a:rPr b="0" i="0" lang="en-US" sz="3375" u="none" cap="none" strike="noStrike">
                <a:solidFill>
                  <a:srgbClr val="00E5FF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(Asynchronous Decoupling)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47875"/>
            <a:ext cx="34861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047875"/>
            <a:ext cx="34861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047875"/>
            <a:ext cx="34861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95475" y="24384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933926" y="3533775"/>
            <a:ext cx="27803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Prompt Medium"/>
                <a:ea typeface="Prompt Medium"/>
                <a:cs typeface="Prompt Medium"/>
                <a:sym typeface="Prompt Medium"/>
              </a:rPr>
              <a:t>Document Chunking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76300" y="40862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กระบวนการหั่นข้อความคู่มือความปลอดภัย กฎระเบียบ หรือนโยบายบริษัท ออกเป็นท่อนสั้นๆ เพื่อให้ง่ายต่อการค้นหา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67375" y="24384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4970859" y="3533775"/>
            <a:ext cx="225028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Prompt Medium"/>
                <a:ea typeface="Prompt Medium"/>
                <a:cs typeface="Prompt Medium"/>
                <a:sym typeface="Prompt Medium"/>
              </a:rPr>
              <a:t>Semantic Search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4648200" y="40862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แปลงความหมายของบริบทเป็นตัวเลข (Vector Embedding) และค้นหากฎที่เกี่ยวข้องอย่างแม่นยำด้วย Cosine Similarity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39275" y="243840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8692753" y="3533775"/>
            <a:ext cx="235029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Prompt Medium"/>
                <a:ea typeface="Prompt Medium"/>
                <a:cs typeface="Prompt Medium"/>
                <a:sym typeface="Prompt Medium"/>
              </a:rPr>
              <a:t>Context Injection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420100" y="40862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แนบกฎเกณฑ์ที่ค้นพบเข้ากับ System Prompt ฉีดเข้าไปเป็นบริบทพื้นฐานก่อนส่งให้ Gemma 3 วิเคราะห์ร่วมกับภาพถ่าย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43125" y="2628900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95962" y="262890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29775" y="26289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581025" y="581025"/>
            <a:ext cx="1158144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จำกัดกรอบความคิด AI ด้วย </a:t>
            </a:r>
            <a:r>
              <a:rPr b="0" i="0" lang="en-US" sz="3375" u="none" cap="none" strike="noStrike">
                <a:solidFill>
                  <a:srgbClr val="00E5FF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RAG Integration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43150"/>
            <a:ext cx="5324475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43150"/>
            <a:ext cx="5324475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71550" y="2733675"/>
            <a:ext cx="477059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E5FF"/>
                </a:solidFill>
                <a:latin typeface="Prompt Medium"/>
                <a:ea typeface="Prompt Medium"/>
                <a:cs typeface="Prompt Medium"/>
                <a:sym typeface="Prompt Medium"/>
              </a:rPr>
              <a:t>ข้อจำกัดในปัจจุบัน (Trade-offs)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971550" y="3286125"/>
            <a:ext cx="45434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971550" y="3486150"/>
            <a:ext cx="45434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สถาปัตยกรรมปัจจุบันใช้การส่งภาพนิ่งผ่าน HTTP/WebSocket ซึ่งสร้างภาระให้กับ Network และเบราว์เซอร์อย่างมาก ทำให้เราต้องยอมลดอัตรารีเฟรชหน้าเว็บวิดีโอลงเหลือเพียง 1 FPS เพื่อรักษาระบบ AI ให้ทำงานได้โดยไม่บล็อกการทำงานหลัก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77025" y="2733675"/>
            <a:ext cx="477059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E5FF"/>
                </a:solidFill>
                <a:latin typeface="Prompt Medium"/>
                <a:ea typeface="Prompt Medium"/>
                <a:cs typeface="Prompt Medium"/>
                <a:sym typeface="Prompt Medium"/>
              </a:rPr>
              <a:t>ทิศทางในอนาคต (Future Work)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6677025" y="3286125"/>
            <a:ext cx="45434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677025" y="3486150"/>
            <a:ext cx="454342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ปรับเปลี่ยนสถาปัตยกรรมการส่งวิดีโอไปใช้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WebRTC (UDP)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 ซึ่งออกแบบมาเพื่อ Real-time Streaming โดยเฉพาะ จะช่วยให้สตรีมวิดีโอ 30 FPS ทะลุเข้าเบราว์เซอร์ได้โดยตรง รวมถึงพัฒนาระบบ MCP เต็มรูปแบบ เพื่อให้ AI สามารถสั่งเปิด-ปิดฮาร์ดแวร์ได้เอง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581025" y="581025"/>
            <a:ext cx="1158144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ก้าวข้ามข้อจำกัดของ </a:t>
            </a:r>
            <a:r>
              <a:rPr b="0" i="0" lang="en-US" sz="3375" u="none" cap="none" strike="noStrike">
                <a:solidFill>
                  <a:srgbClr val="00E5FF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HTTP Protocol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81025" y="581025"/>
            <a:ext cx="5490686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สาธิตการทำงานจริง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375" u="none" cap="none" strike="noStrike">
                <a:solidFill>
                  <a:srgbClr val="00E5FF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(Live Demo)</a:t>
            </a:r>
            <a:endParaRPr/>
          </a:p>
        </p:txBody>
      </p:sp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9525"/>
            <a:ext cx="58007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81025" y="3057525"/>
            <a:ext cx="5490686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E5FF"/>
                </a:solidFill>
                <a:latin typeface="Prompt Medium"/>
                <a:ea typeface="Prompt Medium"/>
                <a:cs typeface="Prompt Medium"/>
                <a:sym typeface="Prompt Medium"/>
              </a:rPr>
              <a:t>TwinEyes Dashboard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81025" y="366712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ระบบรักษาความปลอดภัยแบบผสมผสาน (Hybrid) ที่ทำงานแบบ Real-time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81025" y="4419600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แสดงผลกล้องวงจรปิดแบบ Multi-feed พร้อมระบบประมวลผลเบื้องหลังด้วย YOLO ที่ทำงานเต็มประสิทธิภาพ ควบคู่กับแชทบอท AI (Gemma 3) ที่คอยวิเคราะห์พฤติกรรมอิงตามคู่มือรักษาความปลอดภัย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3990" y="2333625"/>
            <a:ext cx="882387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1463393" y="942975"/>
            <a:ext cx="9265064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8FAFC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Q&amp;A Session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873444" y="2724150"/>
            <a:ext cx="8444961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E5FF"/>
                </a:solidFill>
                <a:latin typeface="Prompt Medium"/>
                <a:ea typeface="Prompt Medium"/>
                <a:cs typeface="Prompt Medium"/>
                <a:sym typeface="Prompt Medium"/>
              </a:rPr>
              <a:t>Engineering Question: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2074515" y="3333750"/>
            <a:ext cx="804282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Sarabun"/>
                <a:ea typeface="Sarabun"/>
                <a:cs typeface="Sarabun"/>
                <a:sym typeface="Sarabun"/>
              </a:rPr>
              <a:t>หากกดปุ่ม </a:t>
            </a:r>
            <a:r>
              <a:rPr b="1" i="0" lang="en-US" sz="1950" u="none" cap="none" strike="noStrike">
                <a:solidFill>
                  <a:srgbClr val="F8FAFC"/>
                </a:solidFill>
                <a:latin typeface="Sarabun"/>
                <a:ea typeface="Sarabun"/>
                <a:cs typeface="Sarabun"/>
                <a:sym typeface="Sarabun"/>
              </a:rPr>
              <a:t>"บันทึกภาพ (Capture)"</a:t>
            </a:r>
            <a:r>
              <a:rPr b="0" i="0" lang="en-US" sz="1950" u="none" cap="none" strike="noStrike">
                <a:solidFill>
                  <a:srgbClr val="F8FAFC"/>
                </a:solidFill>
                <a:latin typeface="Sarabun"/>
                <a:ea typeface="Sarabun"/>
                <a:cs typeface="Sarabun"/>
                <a:sym typeface="Sarabun"/>
              </a:rPr>
              <a:t> ในจังหวะที่มีคนเดินผ่านกล้องพอดี...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50" u="none" cap="none" strike="noStrike">
                <a:solidFill>
                  <a:srgbClr val="F8FAFC"/>
                </a:solidFill>
                <a:latin typeface="Sarabun"/>
                <a:ea typeface="Sarabun"/>
                <a:cs typeface="Sarabun"/>
                <a:sym typeface="Sarabun"/>
              </a:rPr>
              <a:t> ภายใต้หลักการ </a:t>
            </a:r>
            <a:r>
              <a:rPr b="1" i="0" lang="en-US" sz="1950" u="none" cap="none" strike="noStrike">
                <a:solidFill>
                  <a:srgbClr val="F8FAFC"/>
                </a:solidFill>
                <a:latin typeface="Sarabun"/>
                <a:ea typeface="Sarabun"/>
                <a:cs typeface="Sarabun"/>
                <a:sym typeface="Sarabun"/>
              </a:rPr>
              <a:t>Shared Memory Access</a:t>
            </a:r>
            <a:r>
              <a:rPr b="0" i="0" lang="en-US" sz="1950" u="none" cap="none" strike="noStrike">
                <a:solidFill>
                  <a:srgbClr val="F8FAFC"/>
                </a:solidFill>
                <a:latin typeface="Sarabun"/>
                <a:ea typeface="Sarabun"/>
                <a:cs typeface="Sarabun"/>
                <a:sym typeface="Sarabun"/>
              </a:rPr>
              <a:t> ระหว่างหน้าเว็บที่ดึงภาพ 1 FPS กับ YOLO Thread ที่อัปเดตตัวแปร 20 FPS...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2074515" y="4638675"/>
            <a:ext cx="804282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Sarabun"/>
                <a:ea typeface="Sarabun"/>
                <a:cs typeface="Sarabun"/>
                <a:sym typeface="Sarabun"/>
              </a:rPr>
              <a:t>ภาพที่เซฟลงโฟลเดอร์จะเป็นภาพที่เห็น "ค้างบนเว็บ" หรือภาพ "เหตุการณ์ล่าสุด"?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581025" y="3064222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81025" y="40375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81025" y="403755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127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1676400" y="320709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https://media2.dev.to/dynamic/image/width=1280,height=720,fit=cover,gravity=auto,format=auto/https%3A%2F%2Fpub-7486950b10c34babb5fe2309fc875131.r2.dev%2Fblog%2Fdebugging-grpc-latency-from-channel-reuse-to-connection%2Fhero.png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676400" y="365090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dev.to</a:t>
            </a:r>
            <a:endParaRPr/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965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1676400" y="4189958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https://cdn.dribbble.com/userupload/12303019/file/original-0fba8ce8dd6486992bbce876183dd88c.png?format=webp&amp;resize=400x300&amp;vertical=center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1676400" y="443567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dribbble.com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81025" y="581025"/>
            <a:ext cx="1158144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Prompt SemiBold"/>
                <a:ea typeface="Prompt SemiBold"/>
                <a:cs typeface="Prompt SemiBold"/>
                <a:sym typeface="Prompt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